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bölümde hasta mahremiyetinin yalnızca hukuki değil, aynı zamanda etik ve mesleki bir sorumluluk olduğu vurgulanır. Özel Devakent Hastanesi çalışanlarının her temas noktasında güven duygusunu koruması beklenir.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Mahremiyet, sadece kapı kapatmak veya perde çekmek değildir. Hastanın kendini güvende hissetmesi, tedaviye uyumunu ve kurum algısını doğrudan etkiler.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Hastanenin poliklinik, servis, ameliyathane, acil ve danışma alanlarında farklı mahremiyet riskleri bulunur. Her birimde aynı hassasiyet, farklı uygulama biçimleriyle sürdürülür.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Sağlık verisi, kişinin en hassas verileri arasında kabul edilir. Bu nedenle erişim, paylaşım, saklama ve imha süreçlerinde daha yüksek dikkat standardı uygulanır.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bölümde KVKK'nın hastane çalışanları açısından pratik karşılığı anlatılır. Amaç mevzuat ezberletmek değil, günlük iş akışında doğru davranışı yerleştirmektir.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çalışanın bilmesi gereken ana kural şudur: Görev gereği ihtiyaç yoksa hasta verisine erişilmez. Merak, yakınlık veya iyi niyet veri erişimi için gerekçe oluşturmaz.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Hasta yakını olmak, her bilgiye sınırsız erişim hakkı vermez. Bilgilendirme yapılırken hastanın iradesi, yasal temsil durumu ve kurum prosedürü birlikte değerlendirilir.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katılımcılara kendi birimlerinden örnekler sorulabilir. Özellikle ortak bilgisayar kullanımı, yazıcı çıktıları ve hasta yakınlarıyla iletişim üzerinde durulmalıdır.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bölümde mevzuatın sahadaki karşılığı ele alınır. Her klinik temas, mahremiyet açısından küçük ama kritik kararlar içerir.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Muayene sırasında hastanın bedensel mahremiyeti korunurken klinik güvenlikten taviz verilmez. Özellikle acil ve yoğun iş akışında basit önlemler büyük fark oluşturur.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Mahremiyet ihlallerinin önemli kısmı yazılı sistemlerde değil, gündelik konuşmalarda oluşur. Koridorda söylenen kısa bir cümle bile hastanın özel hayatını etkileyebilir.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Sosyal medya paylaşımları geri alınması zor sonuçlar doğurur. Yüz görünmese bile oda numarası, tarih, klinik ayrıntı veya dosya görüntüsü hastayı tanımlanabilir hale getirebilir.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bölümde çalışanların yalnızca kendi davranışlarından değil, fark ettikleri riskleri bildirmekten de sorumlu olduğu anlatılır. Amaç suçlamak değil, güvenli sistem kültürü oluşturmaktır.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Teknik güvenlik sadece bilgi işlem biriminin görevi değildir. Her çalışan, kullandığı ekran, çıktı, dosya ve parola üzerinden güvenlik zincirinin bir parçasıdır.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İhlal şüphesinde en doğru davranış hızlı ve şeffaf bildirimdir. Geç bildirim, iyi niyetli hataları dahi kurumsal risk haline getirebilir.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Yetkisiz erişim, iyi niyet iddiasıyla savunulabilecek bir davranış değildir. Kurumun güvenilirliği, her çalışanın erişim sınırlarına uymasıyla korunur.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Kapanışta katılımcılara şu soru yöneltilebilir: Bugünden itibaren kendi biriminizde hangi küçük davranışı değiştirerek hasta mahremiyetini güçlendirebilirsiniz? Eğitim, günlük uygulamaya dönüşürse gerçek değer üretir.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A7A52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68580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6199632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0"/>
            <a:ext cx="2286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10972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Hasta Mahremiyeti ve KVKK Eğitimi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Mayıs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5486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📋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640080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E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Eğitim Sunumu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 slayt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-27432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A2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Mahremiyetin Temeli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güveni, etik sorumluluk ve kurumsal hizmet kalitesi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Hasta Mahremiyetinin Kurumsal Anlamı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964692"/>
            <a:ext cx="54864" cy="38862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" y="1179576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16128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143000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Korur hastanın bedensel, ruhsal ve sosyal özel alanını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64592" y="1892808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874520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856232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Güçlendirir hasta ile sağlık çalışanı arasındaki güveni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4592" y="2606040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258775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569464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Destekler etik karar alma ve profesyonel davranış kültürünü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4592" y="3319272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3300984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282696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Azaltır şikâyet, dava ve itibar kaybı risklerini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Özel Devakent Hastanesinde Mahremiyet Alanları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964692"/>
            <a:ext cx="54864" cy="38862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" y="1179576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16128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143000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Sınırlar muayene, tedavi ve bakım süreçlerinde görünürlüğü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64592" y="1892808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874520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856232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Düzenler hasta bilgilerine erişen personel yetkilerini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4592" y="2606040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258775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569464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Planlar ortak alanlarda konuşma ve bilgilendirme şeklini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4592" y="3319272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3300984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282696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 eder hasta dosyası, ekran ve yazılı çıktı güvenliğini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Kişisel Sağlık Verisi Özel Niteliklidir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280160"/>
            <a:ext cx="4572000" cy="1645920"/>
          </a:xfrm>
          <a:prstGeom prst="rect">
            <a:avLst>
              <a:gd name="adj" fmla="val 16667"/>
            </a:avLst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2801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6698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KVKK sayılı kanun sağlık verisini özel nitelikli kabul eder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828800" y="3611880"/>
            <a:ext cx="5486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749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6698 sayılı Kişisel Verilerin Korunması Kanunu, madde 6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-27432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A2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02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KVKK ve Sağlık Verisi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Hukuki çerçeve, veri sorumluluğu ve hasta hakları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KVKK Kapsamında Temel İlkeler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964692"/>
            <a:ext cx="54864" cy="38862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" y="1179576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16128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143000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İşler kişisel veriler hukuka ve dürüstlük kuralına uygun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64592" y="1892808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874520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856232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Toplar verileri belirli, açık ve meşru amaçlarla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4592" y="2606040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258775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569464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Saklar kayıtları yalnızca gerekli süre ve kapsamda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4592" y="3319272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3300984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282696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Sınırlar erişimi görev, yetki ve ihtiyaç esasına göre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Hasta Hakları Açısından Bilgilendirme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964692"/>
            <a:ext cx="54864" cy="38862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" y="1179576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16128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143000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Açıklar hastaya verisinin hangi amaçla işlendiğini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64592" y="1892808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874520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856232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Yönlendirir başvuru ve bilgi taleplerini yetkili birime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4592" y="2606040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258775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569464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Kayıt eder aydınlatma ve rıza süreçlerini eksiksiz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4592" y="3319272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3300984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282696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Gözetir hasta yakını bilgilendirmesinde yetki sınırlarını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Hasta Bilgisine Erişimde Doğru ve Yanlış Yaklaşım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051560"/>
            <a:ext cx="36576" cy="3657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" y="1024128"/>
            <a:ext cx="4023360" cy="475488"/>
          </a:xfrm>
          <a:prstGeom prst="rect">
            <a:avLst>
              <a:gd name="adj" fmla="val 15385"/>
            </a:avLst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241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Doğru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" y="1746504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27632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Görev kapsamındaki hasta kaydına erişilir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82880" y="2404872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28600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Ekranlar üçüncü kişilerden korunur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2880" y="3063240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4436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Çıktılar güvenli alanda muhafaza edilir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2880" y="3721608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02736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Şüpheli erişim amire bildirilir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1024128"/>
            <a:ext cx="4023360" cy="475488"/>
          </a:xfrm>
          <a:prstGeom prst="rect">
            <a:avLst>
              <a:gd name="adj" fmla="val 15385"/>
            </a:avLst>
          </a:prstGeom>
          <a:solidFill>
            <a:srgbClr val="0A7A52"/>
          </a:solidFill>
          <a:ln w="12700">
            <a:solidFill>
              <a:srgbClr val="0A7A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241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❌ Yanlış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1746504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627632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Merak nedeniyle hasta dosyası açılır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0" y="2404872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28600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Şifre ekip arkadaşlarıyla paylaşılır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0" y="3063240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94436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sonucu açık alanda konuşulur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0" y="3721608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602736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Ekran açık bırakılarak alandan ayrılınır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-27432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A2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03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Klinik Alanlarda Uygulama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Poliklinik, servis, acil ve ameliyathane süreçlerinde mahremiyet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Muayene ve Bakım Sırasında Mahremiyet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964692"/>
            <a:ext cx="54864" cy="38862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" y="1179576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16128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143000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Hazırlar fiziksel ortamı perde, kapı ve ekran düzeniyle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64592" y="1892808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874520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856232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Bilgilendirir hastayı işlem öncesi anlaşılır klinik dille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4592" y="2606040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258775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569464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Sınırlar odada bulunan kişileri gereklilik esasına göre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4592" y="3319272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3300984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282696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Örter hastanın bedenini işlem güvenliğine uygun biçimde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Sözlü İletişimde Gizlilik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964692"/>
            <a:ext cx="54864" cy="38862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" y="1179576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16128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143000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Konuşur hasta bilgilerini yalnızca uygun klinik ortamda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64592" y="1892808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874520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856232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Kaçınır koridor, asansör ve yemekhane görüşmelerinden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4592" y="2606040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258775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569464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Doğrular telefonda bilgi isteyen kişinin yetkisini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4592" y="3319272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3300984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282696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Kullanır hasta çağrılarında gereksiz tanı bilgisinden kaçınarak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Kritik Uyarı: Sosyal Medya ve Görsel Paylaşım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36118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051560"/>
            <a:ext cx="164592" cy="3611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  DİKKAT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1810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81051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01368"/>
            <a:ext cx="292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1737360"/>
            <a:ext cx="7772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Paylaşılmaz hasta görüntüsü, odası veya klinik evrakı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4688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59736"/>
            <a:ext cx="292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395728"/>
            <a:ext cx="7772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Çekilmez hasta alanında izinsiz fotoğraf veya video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3127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127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18104"/>
            <a:ext cx="292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054096"/>
            <a:ext cx="7772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Kullanılmaz vaka anlatımında kimliği düşündüren ayrıntılar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785616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76472"/>
            <a:ext cx="292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712464"/>
            <a:ext cx="7772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Bildirilir ihlal şüphesi gecikmeden ilgili yöneticiye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-27432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A2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04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İhlal Önleme ve Kurumsal Sorumluluk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Riskleri erken fark etme, bildirim ve sürekli iyileştirme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 Güvenliği İçin Günlük Önlemler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964692"/>
            <a:ext cx="54864" cy="38862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" y="1179576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16128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143000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Kilitle bilgisayarı kısa süreli ayrılıklarda bile mutlaka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64592" y="1892808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874520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856232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Kullan güçlü parola ve kişisel oturum bilgilerini koru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4592" y="2606040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258775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569464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Teslim et çıktıları yalnızca yetkili sağlık çalışanına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4592" y="3319272"/>
            <a:ext cx="384048" cy="384048"/>
          </a:xfrm>
          <a:prstGeom prst="ellipse">
            <a:avLst/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3300984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282696"/>
            <a:ext cx="80467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İmha et gereksiz kopyaları kurum prosedürüne uygun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İhlal Şüphesinde Yapılması Gerekenler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051560"/>
            <a:ext cx="36576" cy="3657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" y="1024128"/>
            <a:ext cx="4023360" cy="475488"/>
          </a:xfrm>
          <a:prstGeom prst="rect">
            <a:avLst>
              <a:gd name="adj" fmla="val 15385"/>
            </a:avLst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241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✅ Doğru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" y="1746504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27632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Durumu gecikmeden yöneticisine bildirir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82880" y="2404872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28600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Delil niteliğindeki kaydı korur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2880" y="3063240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4436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ile sakin iletişim kurar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2880" y="3721608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02736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Kurumsal bildirim sürecini takip eder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1024128"/>
            <a:ext cx="4023360" cy="475488"/>
          </a:xfrm>
          <a:prstGeom prst="rect">
            <a:avLst>
              <a:gd name="adj" fmla="val 15385"/>
            </a:avLst>
          </a:prstGeom>
          <a:solidFill>
            <a:srgbClr val="0A7A52"/>
          </a:solidFill>
          <a:ln w="12700">
            <a:solidFill>
              <a:srgbClr val="0A7A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241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❌ Yanlış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1746504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627632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Olayı kendi içinde çözmeye çalışır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0" y="2404872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28600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Kayıtları silerek izleri azaltır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0" y="3063240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94436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yakınlarına yetkisiz açıklama yapar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0" y="3721608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602736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Süreci sosyal çevresinde paylaşır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Sıfır Tolerans: Yetkisiz Erişim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21920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36118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051560"/>
            <a:ext cx="164592" cy="3611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  DİKKAT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1810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81051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01368"/>
            <a:ext cx="292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1737360"/>
            <a:ext cx="7772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Açılmaz görev dışı hasta kaydı hiçbir gerekçeyle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4688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59736"/>
            <a:ext cx="292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395728"/>
            <a:ext cx="7772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Paylaşılmaz kullanıcı adı, parola veya doğrulama kodu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3127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1272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18104"/>
            <a:ext cx="292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054096"/>
            <a:ext cx="7772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Taşınmaz hasta verisi kişisel cihaz veya hesaba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785616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76472"/>
            <a:ext cx="292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712464"/>
            <a:ext cx="7772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Kopyalanmaz klinik belge izinsiz dijital ortamlara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48072"/>
            <a:ext cx="12192000" cy="109728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0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</a:t>
            </a:r>
            <a:endParaRPr lang="en-US" sz="16000" dirty="0"/>
          </a:p>
        </p:txBody>
      </p:sp>
      <p:sp>
        <p:nvSpPr>
          <p:cNvPr id="6" name="Text 4"/>
          <p:cNvSpPr/>
          <p:nvPr/>
        </p:nvSpPr>
        <p:spPr>
          <a:xfrm>
            <a:off x="914400" y="8229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Hastanın mahremiyetine saygı gösterilmesi, sağlık hizmetinin ayrılmaz bir parçasıdır.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8620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Hasta Hakları Yönetmeliği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4074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Sağlık Bakanlığı düzenlemesi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48072"/>
            <a:ext cx="121920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777240"/>
            <a:ext cx="2194560" cy="2194560"/>
          </a:xfrm>
          <a:prstGeom prst="rect">
            <a:avLst>
              <a:gd name="adj" fmla="val 10417"/>
            </a:avLst>
          </a:prstGeom>
          <a:solidFill>
            <a:srgbClr val="0D9668"/>
          </a:solidFill>
          <a:ln w="12700">
            <a:solidFill>
              <a:srgbClr val="0D96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77724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0" y="3154680"/>
            <a:ext cx="1219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Eğitim Tamamlandı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474720" y="3913632"/>
            <a:ext cx="822960" cy="50292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3913632"/>
            <a:ext cx="82296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114800"/>
            <a:ext cx="1219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A9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Sınav başlıyor — Başarılar dileriz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0" y="470916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5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 Devakent Hastanesi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Özel Devakent Hastanesi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Hasta Mahremiyeti ve KVKK Eğitimi</dc:title>
  <dc:subject>Hasta Mahremiyeti ve KVKK Eğitimi</dc:subject>
  <dc:creator>Hospital LMS</dc:creator>
  <cp:lastModifiedBy>Hospital LMS</cp:lastModifiedBy>
  <cp:revision>1</cp:revision>
  <dcterms:created xsi:type="dcterms:W3CDTF">2026-05-01T08:25:26Z</dcterms:created>
  <dcterms:modified xsi:type="dcterms:W3CDTF">2026-05-01T08:25:26Z</dcterms:modified>
</cp:coreProperties>
</file>