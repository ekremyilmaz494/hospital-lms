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 eğitim, yalnızca mevzuata uyum için değil; hasta güvenliği, kurum itibarı ve profesyonel sağlık hizmeti kültürü için hazırlanmıştır.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Mahremiyet sadece hastanın üzerini örtmek değildir. Bütüncül bir sorumluluktur.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Çalışanlar, ihtiyaç duymadıkları hiçbir hasta kaydına bakmamalıdır.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Sadece imza almak yeterli değildir; hasta anlayacağı şekilde bilgilendirilmelidir.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Özellikle acil servis ve polikliniklerde hasta yoğunluğu bahanesiyle mahremiyet göz ardı edilmemelidir.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Masa üstünde kalan bir epikriz veya çöpe atılan hasta formu ciddi ihlal oluşturabilir.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Başkasının şifresiyle işlem yapmak hem kişisel sorumluluk doğurur hem de kurum güvenliğini zayıflatır.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Hasta yakını olmak, otomatik olarak tüm sağlık bilgilerine erişim hakkı vermez.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Hastanın yüzü görünmese bile oda numarası, tarih veya klinik detaylar kimlik tespitine yol açabilir.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İhlaller çoğu zaman alışkanlık ve dikkatsizlikle oluşur. Erken bildirim zararın büyümesini önler.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9668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0"/>
            <a:ext cx="2286000" cy="68580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97280"/>
            <a:ext cx="62179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Hasta Mahremiyeti ve KVKK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548640" y="3931920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DFFD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Örnek Devlet Hastanesi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4434840"/>
            <a:ext cx="6217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CC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Mayıs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822960"/>
          </a:xfrm>
          <a:prstGeom prst="rect">
            <a:avLst/>
          </a:prstGeom>
          <a:solidFill>
            <a:srgbClr val="0D9668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822960"/>
            <a:ext cx="64008" cy="39776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4800600"/>
            <a:ext cx="12192000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0" y="91440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ADD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 / 10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28600" y="73152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Eğitimin Amacı ve Kapsamı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228600" y="960120"/>
            <a:ext cx="850392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D966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① </a:t>
            </a:r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Hasta mahremiyetinin etik, klinik ve hukuki boyutlarını açıklamak
</a:t>
            </a:r>
            <a:pPr indent="0" marL="0">
              <a:buNone/>
            </a:pPr>
            <a:r>
              <a:rPr lang="en-US" sz="1700" b="1" dirty="0">
                <a:solidFill>
                  <a:srgbClr val="0D966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② </a:t>
            </a:r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KVKK kapsamında sağlık verisinin özel niteliğini kavratmak
</a:t>
            </a:r>
            <a:pPr indent="0" marL="0">
              <a:buNone/>
            </a:pPr>
            <a:r>
              <a:rPr lang="en-US" sz="1700" b="1" dirty="0">
                <a:solidFill>
                  <a:srgbClr val="0D966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③ </a:t>
            </a:r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Klinik, idari ve dijital alanlarda doğru uygulamaları öğretmek
</a:t>
            </a:r>
            <a:pPr indent="0" marL="0">
              <a:buNone/>
            </a:pPr>
            <a:r>
              <a:rPr lang="en-US" sz="1700" b="1" dirty="0">
                <a:solidFill>
                  <a:srgbClr val="0D966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④ </a:t>
            </a:r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Mahremiyet ihlallerini önleyerek hasta güvenini güçlendirmek
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822960"/>
          </a:xfrm>
          <a:prstGeom prst="rect">
            <a:avLst/>
          </a:prstGeom>
          <a:solidFill>
            <a:srgbClr val="0D9668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822960"/>
            <a:ext cx="64008" cy="39776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4800600"/>
            <a:ext cx="12192000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0" y="91440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ADD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 / 10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28600" y="73152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Hasta Mahremiyeti Nedir?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228600" y="960120"/>
            <a:ext cx="850392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D966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① </a:t>
            </a:r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Hastanın bedensel, ruhsal, sosyal ve tıbbi gizliliğinin korunmasıdır
</a:t>
            </a:r>
            <a:pPr indent="0" marL="0">
              <a:buNone/>
            </a:pPr>
            <a:r>
              <a:rPr lang="en-US" sz="1700" b="1" dirty="0">
                <a:solidFill>
                  <a:srgbClr val="0D966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② </a:t>
            </a:r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Muayene, bakım ve tedavide özel alan hakkını kapsar
</a:t>
            </a:r>
            <a:pPr indent="0" marL="0">
              <a:buNone/>
            </a:pPr>
            <a:r>
              <a:rPr lang="en-US" sz="1700" b="1" dirty="0">
                <a:solidFill>
                  <a:srgbClr val="0D966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③ </a:t>
            </a:r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Tanı, tetkik, tedavi ve anamnez bilgileri gizli kabul edilir
</a:t>
            </a:r>
            <a:pPr indent="0" marL="0">
              <a:buNone/>
            </a:pPr>
            <a:r>
              <a:rPr lang="en-US" sz="1700" b="1" dirty="0">
                <a:solidFill>
                  <a:srgbClr val="0D966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④ </a:t>
            </a:r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Mahremiyet, hasta onuru ve güven ilişkisiyle doğrudan bağlantılıdır
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822960"/>
          </a:xfrm>
          <a:prstGeom prst="rect">
            <a:avLst/>
          </a:prstGeom>
          <a:solidFill>
            <a:srgbClr val="0D9668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822960"/>
            <a:ext cx="64008" cy="39776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4800600"/>
            <a:ext cx="12192000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0" y="91440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ADD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 / 10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28600" y="73152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KVKK Açısından Sağlık Verisi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228600" y="960120"/>
            <a:ext cx="850392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D966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① </a:t>
            </a:r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Sağlık verileri özel nitelikli kişisel veri grubundadır
</a:t>
            </a:r>
            <a:pPr indent="0" marL="0">
              <a:buNone/>
            </a:pPr>
            <a:r>
              <a:rPr lang="en-US" sz="1700" b="1" dirty="0">
                <a:solidFill>
                  <a:srgbClr val="0D966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② </a:t>
            </a:r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T.C. kimlik, laboratuvar sonucu, epikriz ve reçete korunmalıdır
</a:t>
            </a:r>
            <a:pPr indent="0" marL="0">
              <a:buNone/>
            </a:pPr>
            <a:r>
              <a:rPr lang="en-US" sz="1700" b="1" dirty="0">
                <a:solidFill>
                  <a:srgbClr val="0D966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③ </a:t>
            </a:r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Veriye erişim yalnızca görev ve yetki kapsamında olmalıdır
</a:t>
            </a:r>
            <a:pPr indent="0" marL="0">
              <a:buNone/>
            </a:pPr>
            <a:r>
              <a:rPr lang="en-US" sz="1700" b="1" dirty="0">
                <a:solidFill>
                  <a:srgbClr val="0D966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④ </a:t>
            </a:r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Yetkisiz erişim, paylaşım veya saklama veri ihlali sayılabilir
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822960"/>
          </a:xfrm>
          <a:prstGeom prst="rect">
            <a:avLst/>
          </a:prstGeom>
          <a:solidFill>
            <a:srgbClr val="0D9668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822960"/>
            <a:ext cx="64008" cy="39776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4800600"/>
            <a:ext cx="12192000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0" y="91440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ADD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 / 10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28600" y="73152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Aydınlatma, Rıza ve Bilgilendirme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228600" y="960120"/>
            <a:ext cx="850392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D966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① </a:t>
            </a:r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Hasta, kişisel verisinin işlenme amacı hakkında bilgilendirilmelidir
</a:t>
            </a:r>
            <a:pPr indent="0" marL="0">
              <a:buNone/>
            </a:pPr>
            <a:r>
              <a:rPr lang="en-US" sz="1700" b="1" dirty="0">
                <a:solidFill>
                  <a:srgbClr val="0D966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② </a:t>
            </a:r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Tıbbi müdahalelerde aydınlatılmış onam süreci eksiksiz yürütülmelidir
</a:t>
            </a:r>
            <a:pPr indent="0" marL="0">
              <a:buNone/>
            </a:pPr>
            <a:r>
              <a:rPr lang="en-US" sz="1700" b="1" dirty="0">
                <a:solidFill>
                  <a:srgbClr val="0D966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③ </a:t>
            </a:r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Rıza, açık, anlaşılır ve özgür iradeye dayanmalıdır
</a:t>
            </a:r>
            <a:pPr indent="0" marL="0">
              <a:buNone/>
            </a:pPr>
            <a:r>
              <a:rPr lang="en-US" sz="1700" b="1" dirty="0">
                <a:solidFill>
                  <a:srgbClr val="0D966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④ </a:t>
            </a:r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Hasta, bilgi alma ve mahremiyet talep etme hakkına sahiptir
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822960"/>
          </a:xfrm>
          <a:prstGeom prst="rect">
            <a:avLst/>
          </a:prstGeom>
          <a:solidFill>
            <a:srgbClr val="0D9668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822960"/>
            <a:ext cx="64008" cy="39776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4800600"/>
            <a:ext cx="12192000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0" y="91440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ADD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 / 10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28600" y="73152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Klinik Alanlarda Mahremiyet Uygulamaları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228600" y="960120"/>
            <a:ext cx="850392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D966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① </a:t>
            </a:r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Muayene sırasında kapı, perde, paravan ve örtü kullanılmalıdır
</a:t>
            </a:r>
            <a:pPr indent="0" marL="0">
              <a:buNone/>
            </a:pPr>
            <a:r>
              <a:rPr lang="en-US" sz="1700" b="1" dirty="0">
                <a:solidFill>
                  <a:srgbClr val="0D966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② </a:t>
            </a:r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Hasta bilgileri koridor, asansör ve bekleme alanında konuşulmamalıdır
</a:t>
            </a:r>
            <a:pPr indent="0" marL="0">
              <a:buNone/>
            </a:pPr>
            <a:r>
              <a:rPr lang="en-US" sz="1700" b="1" dirty="0">
                <a:solidFill>
                  <a:srgbClr val="0D966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③ </a:t>
            </a:r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Refakatçi veya ziyaretçi varlığı hastanın onayıyla düzenlenmelidir
</a:t>
            </a:r>
            <a:pPr indent="0" marL="0">
              <a:buNone/>
            </a:pPr>
            <a:r>
              <a:rPr lang="en-US" sz="1700" b="1" dirty="0">
                <a:solidFill>
                  <a:srgbClr val="0D966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④ </a:t>
            </a:r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Tedavi sırasında yalnızca gerekli sağlık personeli ortamda bulunmalıdır
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822960"/>
          </a:xfrm>
          <a:prstGeom prst="rect">
            <a:avLst/>
          </a:prstGeom>
          <a:solidFill>
            <a:srgbClr val="0D9668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822960"/>
            <a:ext cx="64008" cy="39776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4800600"/>
            <a:ext cx="12192000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0" y="91440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ADD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 / 10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28600" y="73152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Hasta Dosyası ve Evrak Güvenliği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228600" y="960120"/>
            <a:ext cx="850392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D966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① </a:t>
            </a:r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Hasta dosyaları, raporlar ve formlar açıkta bırakılmamalıdır
</a:t>
            </a:r>
            <a:pPr indent="0" marL="0">
              <a:buNone/>
            </a:pPr>
            <a:r>
              <a:rPr lang="en-US" sz="1700" b="1" dirty="0">
                <a:solidFill>
                  <a:srgbClr val="0D966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② </a:t>
            </a:r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Tetkik sonuçları yalnızca yetkili kişilere teslim edilmelidir
</a:t>
            </a:r>
            <a:pPr indent="0" marL="0">
              <a:buNone/>
            </a:pPr>
            <a:r>
              <a:rPr lang="en-US" sz="1700" b="1" dirty="0">
                <a:solidFill>
                  <a:srgbClr val="0D966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③ </a:t>
            </a:r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Basılı belgeler gereksiz çoğaltılmamalı ve kontrolsüz taşınmamalıdır
</a:t>
            </a:r>
            <a:pPr indent="0" marL="0">
              <a:buNone/>
            </a:pPr>
            <a:r>
              <a:rPr lang="en-US" sz="1700" b="1" dirty="0">
                <a:solidFill>
                  <a:srgbClr val="0D966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④ </a:t>
            </a:r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İmha gereken evraklar güvenli tıbbi arşiv prosedürüne göre yok edilmelidir
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822960"/>
          </a:xfrm>
          <a:prstGeom prst="rect">
            <a:avLst/>
          </a:prstGeom>
          <a:solidFill>
            <a:srgbClr val="0D9668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822960"/>
            <a:ext cx="64008" cy="39776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4800600"/>
            <a:ext cx="12192000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0" y="91440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ADD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 / 10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28600" y="73152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Dijital Sistemlerde Veri Güvenliği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228600" y="960120"/>
            <a:ext cx="850392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D966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① </a:t>
            </a:r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Hastane bilgi sistemine kişisel kullanıcı adıyla giriş yapılmalıdır
</a:t>
            </a:r>
            <a:pPr indent="0" marL="0">
              <a:buNone/>
            </a:pPr>
            <a:r>
              <a:rPr lang="en-US" sz="1700" b="1" dirty="0">
                <a:solidFill>
                  <a:srgbClr val="0D966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② </a:t>
            </a:r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Şifreler paylaşılmamalı, yazılı not olarak görünür tutulmamalıdır
</a:t>
            </a:r>
            <a:pPr indent="0" marL="0">
              <a:buNone/>
            </a:pPr>
            <a:r>
              <a:rPr lang="en-US" sz="1700" b="1" dirty="0">
                <a:solidFill>
                  <a:srgbClr val="0D966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③ </a:t>
            </a:r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İşlem bitince ekran kilitlenmeli veya oturum kapatılmalıdır
</a:t>
            </a:r>
            <a:pPr indent="0" marL="0">
              <a:buNone/>
            </a:pPr>
            <a:r>
              <a:rPr lang="en-US" sz="1700" b="1" dirty="0">
                <a:solidFill>
                  <a:srgbClr val="0D966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④ </a:t>
            </a:r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Hasta verileri kişisel telefon, e-posta veya belleğe aktarılmamalıdır
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822960"/>
          </a:xfrm>
          <a:prstGeom prst="rect">
            <a:avLst/>
          </a:prstGeom>
          <a:solidFill>
            <a:srgbClr val="0D9668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822960"/>
            <a:ext cx="64008" cy="39776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4800600"/>
            <a:ext cx="12192000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0" y="91440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ADD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 / 10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28600" y="73152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Hasta Bilgisi Kimlerle Paylaşılabilir?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228600" y="960120"/>
            <a:ext cx="850392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D966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① </a:t>
            </a:r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Bilgi paylaşımı görev, yetki, mevzuat ve hasta rızasına dayanmalıdır
</a:t>
            </a:r>
            <a:pPr indent="0" marL="0">
              <a:buNone/>
            </a:pPr>
            <a:r>
              <a:rPr lang="en-US" sz="1700" b="1" dirty="0">
                <a:solidFill>
                  <a:srgbClr val="0D966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② </a:t>
            </a:r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Hasta yakınına bilgi verilmeden önce kimlik ve yetki doğrulanmalıdır
</a:t>
            </a:r>
            <a:pPr indent="0" marL="0">
              <a:buNone/>
            </a:pPr>
            <a:r>
              <a:rPr lang="en-US" sz="1700" b="1" dirty="0">
                <a:solidFill>
                  <a:srgbClr val="0D966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③ </a:t>
            </a:r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Telefonla bilgi aktarımında güvenli kimlik doğrulama yapılmalıdır
</a:t>
            </a:r>
            <a:pPr indent="0" marL="0">
              <a:buNone/>
            </a:pPr>
            <a:r>
              <a:rPr lang="en-US" sz="1700" b="1" dirty="0">
                <a:solidFill>
                  <a:srgbClr val="0D966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④ </a:t>
            </a:r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Adli veya resmi talepler kurum prosedürüne göre değerlendirilmelidir
</a:t>
            </a:r>
            <a:endParaRPr lang="en-US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822960"/>
          </a:xfrm>
          <a:prstGeom prst="rect">
            <a:avLst/>
          </a:prstGeom>
          <a:solidFill>
            <a:srgbClr val="0D9668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822960"/>
            <a:ext cx="64008" cy="39776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4800600"/>
            <a:ext cx="12192000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0" y="91440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ADD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 / 10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28600" y="73152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Sosyal Medya ve Görsel Mahremiyet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228600" y="960120"/>
            <a:ext cx="850392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D966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① </a:t>
            </a:r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Hasta fotoğrafı, videosu veya sesi izinsiz kaydedilmemelidir
</a:t>
            </a:r>
            <a:pPr indent="0" marL="0">
              <a:buNone/>
            </a:pPr>
            <a:r>
              <a:rPr lang="en-US" sz="1700" b="1" dirty="0">
                <a:solidFill>
                  <a:srgbClr val="0D966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② </a:t>
            </a:r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Kimlik gizlense bile klinik görüntü paylaşımı risk oluşturabilir
</a:t>
            </a:r>
            <a:pPr indent="0" marL="0">
              <a:buNone/>
            </a:pPr>
            <a:r>
              <a:rPr lang="en-US" sz="1700" b="1" dirty="0">
                <a:solidFill>
                  <a:srgbClr val="0D966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③ </a:t>
            </a:r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Ameliyathane, servis ve acil alan görüntüleri kontrolsüz paylaşılmamalıdır
</a:t>
            </a:r>
            <a:pPr indent="0" marL="0">
              <a:buNone/>
            </a:pPr>
            <a:r>
              <a:rPr lang="en-US" sz="1700" b="1" dirty="0">
                <a:solidFill>
                  <a:srgbClr val="0D966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④ </a:t>
            </a:r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Eğitim amaçlı görsellerde yazılı izin ve anonimleştirme sağlanmalıdır
</a:t>
            </a:r>
            <a:endParaRPr lang="en-US" sz="1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822960"/>
          </a:xfrm>
          <a:prstGeom prst="rect">
            <a:avLst/>
          </a:prstGeom>
          <a:solidFill>
            <a:srgbClr val="0D9668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822960"/>
            <a:ext cx="64008" cy="39776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4800600"/>
            <a:ext cx="12192000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0" y="91440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ADD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 / 10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28600" y="73152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Sık Görülen İhlaller ve Doğru Yaklaşım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228600" y="960120"/>
            <a:ext cx="850392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D966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① </a:t>
            </a:r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Merak amacıyla hasta kaydına bakmak yetkisiz erişimdir
</a:t>
            </a:r>
            <a:pPr indent="0" marL="0">
              <a:buNone/>
            </a:pPr>
            <a:r>
              <a:rPr lang="en-US" sz="1700" b="1" dirty="0">
                <a:solidFill>
                  <a:srgbClr val="0D966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② </a:t>
            </a:r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Koridorda tanı veya tedavi konuşmak mahremiyet ihlalidir
</a:t>
            </a:r>
            <a:pPr indent="0" marL="0">
              <a:buNone/>
            </a:pPr>
            <a:r>
              <a:rPr lang="en-US" sz="1700" b="1" dirty="0">
                <a:solidFill>
                  <a:srgbClr val="0D966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③ </a:t>
            </a:r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Yanlış kişiye sonuç vermek kişisel veri ihlali oluşturabilir
</a:t>
            </a:r>
            <a:pPr indent="0" marL="0">
              <a:buNone/>
            </a:pPr>
            <a:r>
              <a:rPr lang="en-US" sz="1700" b="1" dirty="0">
                <a:solidFill>
                  <a:srgbClr val="0D966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④ </a:t>
            </a:r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İhlal şüphesinde yönetici ve kalite birimi bilgilendirilmelidir
</a:t>
            </a:r>
            <a:endParaRPr lang="en-US" sz="1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0" y="2377440"/>
            <a:ext cx="1828800" cy="64008"/>
          </a:xfrm>
          <a:prstGeom prst="rect">
            <a:avLst/>
          </a:prstGeom>
          <a:solidFill>
            <a:srgbClr val="0D9668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0" y="2880360"/>
            <a:ext cx="1828800" cy="6400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" name="Text 3"/>
          <p:cNvSpPr/>
          <p:nvPr/>
        </p:nvSpPr>
        <p:spPr>
          <a:xfrm>
            <a:off x="0" y="1188720"/>
            <a:ext cx="12192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D966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Teşekkürler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0" y="3063240"/>
            <a:ext cx="1219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Eğitim tamamlandı — Sınav başlıyor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0" y="4480560"/>
            <a:ext cx="1219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Örnek Devlet Hastanesi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Örnek Devlet Hastanesi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Hasta Mahremiyeti ve KVKK</dc:title>
  <dc:subject>Hasta Mahremiyeti ve KVKK</dc:subject>
  <dc:creator>Hospital LMS</dc:creator>
  <cp:lastModifiedBy>Hospital LMS</cp:lastModifiedBy>
  <cp:revision>1</cp:revision>
  <dcterms:created xsi:type="dcterms:W3CDTF">2026-05-01T06:44:22Z</dcterms:created>
  <dcterms:modified xsi:type="dcterms:W3CDTF">2026-05-01T06:44:22Z</dcterms:modified>
</cp:coreProperties>
</file>